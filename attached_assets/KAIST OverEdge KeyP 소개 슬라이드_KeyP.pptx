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57500" y="-1752630"/>
            <a:ext cx="5943600" cy="5943600"/>
          </a:xfrm>
          <a:prstGeom prst="ellipse">
            <a:avLst/>
          </a:prstGeom>
          <a:solidFill>
            <a:srgbClr val="4F46E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2834511"/>
            <a:ext cx="4572000" cy="4572000"/>
          </a:xfrm>
          <a:prstGeom prst="ellipse">
            <a:avLst/>
          </a:prstGeom>
          <a:solidFill>
            <a:srgbClr val="FF6B8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eyp-icon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6868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18488" y="896112"/>
            <a:ext cx="57241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KeyP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REAL-TIME INTEREST ALERTS ·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14600"/>
            <a:ext cx="5724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2026 KAIST OverEdge (오엣) · 창업 아이디어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71800"/>
            <a:ext cx="572414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관심사를 등록만 하면,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에이전트 팀이 대신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찾아 알려주는 </a:t>
            </a:r>
            <a:r>
              <a:rPr sz="40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속보 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074920"/>
            <a:ext cx="57241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자연어 관심사 → 4개 AI 에이전트 파이프라인 → 신뢰도 검증된 알림.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거기에 </a:t>
            </a:r>
            <a:r>
              <a:rPr sz="1600" b="1">
                <a:solidFill>
                  <a:srgbClr val="FF6B8A"/>
                </a:solidFill>
                <a:latin typeface="Malgun Gothic"/>
                <a:ea typeface="Malgun Gothic"/>
                <a:cs typeface="Malgun Gothic"/>
              </a:rPr>
              <a:t>opt-in 상호매칭</a:t>
            </a:r>
            <a:r>
              <a:rPr sz="16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으로 사람까지 연결하는 모바일 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6153912"/>
            <a:ext cx="2525334" cy="5340096"/>
          </a:xfrm>
          <a:prstGeom prst="roundRect">
            <a:avLst>
              <a:gd name="adj" fmla="val 8500"/>
            </a:avLst>
          </a:prstGeom>
          <a:solidFill>
            <a:srgbClr val="05070F"/>
          </a:solidFill>
          <a:ln w="15875">
            <a:solidFill>
              <a:srgbClr val="26304C"/>
            </a:solidFill>
          </a:ln>
          <a:effectLst>
            <a:outerShdw blurRad="164592" dist="9144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-onboa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6217920"/>
            <a:ext cx="2397318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6766560"/>
            <a:ext cx="2240280" cy="1143000"/>
          </a:xfrm>
          <a:prstGeom prst="roundRect">
            <a:avLst>
              <a:gd name="adj" fmla="val 16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6931152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4개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747979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전문 AI 에이전트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8183880"/>
            <a:ext cx="2240280" cy="1143000"/>
          </a:xfrm>
          <a:prstGeom prst="roundRect">
            <a:avLst>
              <a:gd name="adj" fmla="val 16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8348472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1인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889711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AI 파트너십 창업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9601200"/>
            <a:ext cx="2240280" cy="1143000"/>
          </a:xfrm>
          <a:prstGeom prst="roundRect">
            <a:avLst>
              <a:gd name="adj" fmla="val 16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9765792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103144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이미 작동 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1323015"/>
            <a:ext cx="5724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신청자 성명 / 연락처 : ________________________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-1539264"/>
            <a:ext cx="5029200" cy="5029200"/>
          </a:xfrm>
          <a:prstGeom prst="ellipse">
            <a:avLst/>
          </a:prstGeom>
          <a:solidFill>
            <a:srgbClr val="FF6B8A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274320" cy="64008"/>
          </a:xfrm>
          <a:prstGeom prst="rect">
            <a:avLst/>
          </a:prstGeom>
          <a:solidFill>
            <a:srgbClr val="5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594360"/>
            <a:ext cx="5724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PROBLEM · 풀고자 하는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572414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정보는 넘치는데,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'내 관심사'의 </a:t>
            </a:r>
            <a:r>
              <a:rPr sz="3300" b="1">
                <a:solidFill>
                  <a:srgbClr val="FF6B8A"/>
                </a:solidFill>
                <a:latin typeface="Malgun Gothic"/>
                <a:ea typeface="Malgun Gothic"/>
                <a:cs typeface="Malgun Gothic"/>
              </a:rPr>
              <a:t>결정적 신호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는 항상 늦게 도착한다.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88920"/>
            <a:ext cx="5724144" cy="1417320"/>
          </a:xfrm>
          <a:prstGeom prst="roundRect">
            <a:avLst>
              <a:gd name="adj" fmla="val 10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30815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0815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3008376"/>
            <a:ext cx="4261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검색은 직접 찾아야 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3465576"/>
            <a:ext cx="4261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매번 사람이 키워드를 넣고 뒤져야 한다. 실시간성도, 미래 신호도 없다.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462272"/>
            <a:ext cx="5724144" cy="1417320"/>
          </a:xfrm>
          <a:prstGeom prst="roundRect">
            <a:avLst>
              <a:gd name="adj" fmla="val 10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75488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754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4681728"/>
            <a:ext cx="4261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키워드 알림은 노이즈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9928" y="5138928"/>
            <a:ext cx="4261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단순 일치만 하면 중복·광고가 쌏리고, 한국어·로컬 출처는 약하다.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6135624"/>
            <a:ext cx="5724144" cy="1417320"/>
          </a:xfrm>
          <a:prstGeom prst="roundRect">
            <a:avLst>
              <a:gd name="adj" fmla="val 10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642823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64282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6355080"/>
            <a:ext cx="4261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SNS는 광고·체류용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6812280"/>
            <a:ext cx="4261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참여·광고 중심 피드는 플랫폼 이익이 우선. 내 관심사보다 알고리즘이 우선이다.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7808976"/>
            <a:ext cx="5724144" cy="1417320"/>
          </a:xfrm>
          <a:prstGeom prst="roundRect">
            <a:avLst>
              <a:gd name="adj" fmla="val 10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810158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810158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9928" y="8028432"/>
            <a:ext cx="4261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흔어진 출처, 검증 불가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8485632"/>
            <a:ext cx="4261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여러 출처를 개인이 일일이 모니터링·교차검증하는 것은 시간·비용 불가능하다.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9528048"/>
            <a:ext cx="5724144" cy="1234440"/>
          </a:xfrm>
          <a:prstGeom prst="roundRect">
            <a:avLst>
              <a:gd name="adj" fmla="val 10000"/>
            </a:avLst>
          </a:prstGeom>
          <a:solidFill>
            <a:srgbClr val="14112A"/>
          </a:solidFill>
          <a:ln w="12700">
            <a:solidFill>
              <a:srgbClr val="F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9729216"/>
            <a:ext cx="49926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“흔어진 세상의 정보 속에서, 내 관심사의 결정적 신호를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가장 먼저·정확하게 받을 방법이 없다.”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KeyP</a:t>
            </a: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  ·  KAIST OverEdge 창업 아이디어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Problem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91640" y="-1051596"/>
            <a:ext cx="5029200" cy="5029200"/>
          </a:xfrm>
          <a:prstGeom prst="ellipse">
            <a:avLst/>
          </a:prstGeom>
          <a:solidFill>
            <a:srgbClr val="5B7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274320" cy="64008"/>
          </a:xfrm>
          <a:prstGeom prst="rect">
            <a:avLst/>
          </a:prstGeom>
          <a:solidFill>
            <a:srgbClr val="5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594360"/>
            <a:ext cx="5724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SOLUTION · 해결책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57241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등록만 하면,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AI가 </a:t>
            </a:r>
            <a:r>
              <a:rPr sz="33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대신 찾아 알려준다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9192"/>
            <a:ext cx="2525334" cy="5340096"/>
          </a:xfrm>
          <a:prstGeom prst="roundRect">
            <a:avLst>
              <a:gd name="adj" fmla="val 8500"/>
            </a:avLst>
          </a:prstGeom>
          <a:solidFill>
            <a:srgbClr val="05070F"/>
          </a:solidFill>
          <a:ln w="15875">
            <a:solidFill>
              <a:srgbClr val="26304C"/>
            </a:solidFill>
          </a:ln>
          <a:effectLst>
            <a:outerShdw blurRad="164592" dist="9144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743200"/>
            <a:ext cx="2397318" cy="5212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13048" y="2697480"/>
            <a:ext cx="2478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핵심 경험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3048" y="3200400"/>
            <a:ext cx="2478024" cy="1207008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14216" y="3364992"/>
            <a:ext cx="2112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자연어로 관심사 등록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4216" y="3803904"/>
            <a:ext cx="21122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“몇 키워드” 가 아니라 일상 문장으로 적으면 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13048" y="4572000"/>
            <a:ext cx="2478024" cy="1207008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4216" y="4736592"/>
            <a:ext cx="2112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구조화 · 전략 수립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4216" y="5175504"/>
            <a:ext cx="21122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AI가 의도를 읽고 '어디서 어떻게 찾을지' 계획을 세운다.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3048" y="5943600"/>
            <a:ext cx="2478024" cy="1207008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14216" y="6108192"/>
            <a:ext cx="2112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신뢰도 검증된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4216" y="6547104"/>
            <a:ext cx="21122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출처 교차검증 후 점수가 높은 것만 요약해 전달한다.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3048" y="7315200"/>
            <a:ext cx="2478024" cy="1207008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14216" y="7479792"/>
            <a:ext cx="2112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그대로 속보 피드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4216" y="7918704"/>
            <a:ext cx="21122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새 소식이 오면 푸시 알림. 직접 찾지 않아도 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KeyP</a:t>
            </a: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  ·  KAIST OverEdge 창업 아이디어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Solution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29000" y="8229325"/>
            <a:ext cx="5486400" cy="5486400"/>
          </a:xfrm>
          <a:prstGeom prst="ellipse">
            <a:avLst/>
          </a:prstGeom>
          <a:solidFill>
            <a:srgbClr val="4F46E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274320" cy="64008"/>
          </a:xfrm>
          <a:prstGeom prst="rect">
            <a:avLst/>
          </a:prstGeom>
          <a:solidFill>
            <a:srgbClr val="5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594360"/>
            <a:ext cx="5724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HOW IT WORKS · 4개 AI 에이전트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57241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'검색'이 아니라 </a:t>
            </a:r>
            <a:r>
              <a:rPr sz="31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'추론 후 좌혀 찾기'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5724144" cy="1143000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5875">
            <a:solidFill>
              <a:srgbClr val="5B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5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532888"/>
            <a:ext cx="4352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Planner</a:t>
            </a:r>
            <a:r>
              <a:rPr sz="13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   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90088"/>
            <a:ext cx="4352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관심사 구조화·검색 전략 수립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456432"/>
            <a:ext cx="57241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77640"/>
            <a:ext cx="5724144" cy="1143000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2519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4178808"/>
            <a:ext cx="4352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Collector</a:t>
            </a:r>
            <a:r>
              <a:rPr sz="1300" b="1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   Perplexity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636008"/>
            <a:ext cx="4352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전략대로 유망 출처만 실제 수집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102352"/>
            <a:ext cx="57241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623560"/>
            <a:ext cx="5724144" cy="1143000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5875">
            <a:solidFill>
              <a:srgbClr val="7C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589788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7C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5824728"/>
            <a:ext cx="4352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Verifier</a:t>
            </a:r>
            <a:r>
              <a:rPr sz="1300" b="1">
                <a:solidFill>
                  <a:srgbClr val="7C6BFF"/>
                </a:solidFill>
                <a:latin typeface="Malgun Gothic"/>
                <a:ea typeface="Malgun Gothic"/>
                <a:cs typeface="Malgun Gothic"/>
              </a:rPr>
              <a:t>   Claude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6281928"/>
            <a:ext cx="4352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출처 교차검증 · 신뢰도 점수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748272"/>
            <a:ext cx="57241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7C6B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7269480"/>
            <a:ext cx="5724144" cy="1143000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5875">
            <a:solidFill>
              <a:srgbClr val="F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754380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754380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7470648"/>
            <a:ext cx="4352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Deliverer</a:t>
            </a:r>
            <a:r>
              <a:rPr sz="1300" b="1">
                <a:solidFill>
                  <a:srgbClr val="FF6B8A"/>
                </a:solidFill>
                <a:latin typeface="Malgun Gothic"/>
                <a:ea typeface="Malgun Gothic"/>
                <a:cs typeface="Malgun Gothic"/>
              </a:rPr>
              <a:t>   Sort·Dedup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4208" y="7927848"/>
            <a:ext cx="4352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최신성·신뢰도 정렬 · 중복제거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8778240"/>
            <a:ext cx="5724144" cy="1143000"/>
          </a:xfrm>
          <a:prstGeom prst="roundRect">
            <a:avLst>
              <a:gd name="adj" fmla="val 10000"/>
            </a:avLst>
          </a:prstGeom>
          <a:solidFill>
            <a:srgbClr val="101A14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8961120"/>
            <a:ext cx="50840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핵심 철학 — AlphaGo식 후보 축소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모든 키워드를 모든 곳에 계속 깋지 않는다. 가능성 높은 후보부터 좌혀 → 비용↓ 속도·정확도↑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KeyP</a:t>
            </a: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  ·  KAIST OverEdge 창업 아이디어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How it works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-2240298"/>
            <a:ext cx="5943600" cy="5943600"/>
          </a:xfrm>
          <a:prstGeom prst="ellipse">
            <a:avLst/>
          </a:prstGeom>
          <a:solidFill>
            <a:srgbClr val="5B7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274320" cy="64008"/>
          </a:xfrm>
          <a:prstGeom prst="rect">
            <a:avLst/>
          </a:prstGeom>
          <a:solidFill>
            <a:srgbClr val="5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594360"/>
            <a:ext cx="5724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PRODUCT · 이미 작동하는 제품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57241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기획안이 아니라, </a:t>
            </a:r>
            <a:r>
              <a:rPr sz="31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작동하는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21992"/>
            <a:ext cx="2483276" cy="5248656"/>
          </a:xfrm>
          <a:prstGeom prst="roundRect">
            <a:avLst>
              <a:gd name="adj" fmla="val 8500"/>
            </a:avLst>
          </a:prstGeom>
          <a:solidFill>
            <a:srgbClr val="05070F"/>
          </a:solidFill>
          <a:ln w="15875">
            <a:solidFill>
              <a:srgbClr val="26304C"/>
            </a:solidFill>
          </a:ln>
          <a:effectLst>
            <a:outerShdw blurRad="164592" dist="9144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inter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86000"/>
            <a:ext cx="235526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85032" y="2221992"/>
            <a:ext cx="2483276" cy="5248656"/>
          </a:xfrm>
          <a:prstGeom prst="roundRect">
            <a:avLst>
              <a:gd name="adj" fmla="val 8500"/>
            </a:avLst>
          </a:prstGeom>
          <a:solidFill>
            <a:srgbClr val="05070F"/>
          </a:solidFill>
          <a:ln w="15875">
            <a:solidFill>
              <a:srgbClr val="26304C"/>
            </a:solidFill>
          </a:ln>
          <a:effectLst>
            <a:outerShdw blurRad="164592" dist="9144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a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286000"/>
            <a:ext cx="2355260" cy="5120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7571232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① 관심사 관리 · 자동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7571232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② AI 에이전트 관심사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8275320"/>
            <a:ext cx="2770632" cy="530352"/>
          </a:xfrm>
          <a:prstGeom prst="roundRect">
            <a:avLst>
              <a:gd name="adj" fmla="val 18000"/>
            </a:avLst>
          </a:prstGeom>
          <a:solidFill>
            <a:srgbClr val="161C30"/>
          </a:solidFill>
          <a:ln w="9525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8275320"/>
            <a:ext cx="249631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✓  </a:t>
            </a: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4개 AI 에이전트 실시간 파이프라인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8275320"/>
            <a:ext cx="2770632" cy="530352"/>
          </a:xfrm>
          <a:prstGeom prst="roundRect">
            <a:avLst>
              <a:gd name="adj" fmla="val 18000"/>
            </a:avLst>
          </a:prstGeom>
          <a:solidFill>
            <a:srgbClr val="161C30"/>
          </a:solidFill>
          <a:ln w="9525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8275320"/>
            <a:ext cx="249631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✓  </a:t>
            </a: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실시간 푸시 알림 (PWA Web Push)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8915400"/>
            <a:ext cx="2770632" cy="530352"/>
          </a:xfrm>
          <a:prstGeom prst="roundRect">
            <a:avLst>
              <a:gd name="adj" fmla="val 18000"/>
            </a:avLst>
          </a:prstGeom>
          <a:solidFill>
            <a:srgbClr val="161C30"/>
          </a:solidFill>
          <a:ln w="9525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8915400"/>
            <a:ext cx="249631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✓  </a:t>
            </a: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의미 기반 중복제거 · 죽은 링크 차단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8915400"/>
            <a:ext cx="2770632" cy="530352"/>
          </a:xfrm>
          <a:prstGeom prst="roundRect">
            <a:avLst>
              <a:gd name="adj" fmla="val 18000"/>
            </a:avLst>
          </a:prstGeom>
          <a:solidFill>
            <a:srgbClr val="161C30"/>
          </a:solidFill>
          <a:ln w="9525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8915400"/>
            <a:ext cx="249631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✓  </a:t>
            </a: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좋아요/별로예요 피드백 학습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9555480"/>
            <a:ext cx="2770632" cy="530352"/>
          </a:xfrm>
          <a:prstGeom prst="roundRect">
            <a:avLst>
              <a:gd name="adj" fmla="val 18000"/>
            </a:avLst>
          </a:prstGeom>
          <a:solidFill>
            <a:srgbClr val="161C30"/>
          </a:solidFill>
          <a:ln w="9525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9555480"/>
            <a:ext cx="249631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✓  </a:t>
            </a: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한국어 UI + 글로벌 검색·번역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9555480"/>
            <a:ext cx="2770632" cy="530352"/>
          </a:xfrm>
          <a:prstGeom prst="roundRect">
            <a:avLst>
              <a:gd name="adj" fmla="val 18000"/>
            </a:avLst>
          </a:prstGeom>
          <a:solidFill>
            <a:srgbClr val="161C30"/>
          </a:solidFill>
          <a:ln w="9525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5032" y="9555480"/>
            <a:ext cx="249631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✓  </a:t>
            </a: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비용 최적화 (캐싱·코얼레싱)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KeyP</a:t>
            </a: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  ·  KAIST OverEdge 창업 아이디어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Product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314700" y="-685845"/>
            <a:ext cx="5029200" cy="5029200"/>
          </a:xfrm>
          <a:prstGeom prst="ellipse">
            <a:avLst/>
          </a:prstGeom>
          <a:solidFill>
            <a:srgbClr val="FF6B8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274320" cy="64008"/>
          </a:xfrm>
          <a:prstGeom prst="rect">
            <a:avLst/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594360"/>
            <a:ext cx="5724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B8A"/>
                </a:solidFill>
                <a:latin typeface="Malgun Gothic"/>
                <a:ea typeface="Malgun Gothic"/>
                <a:cs typeface="Malgun Gothic"/>
              </a:rPr>
              <a:t>MATCHING · 상호매칭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57241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같은 관심사를 가진 사람과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양방향 동의 시에만 </a:t>
            </a:r>
            <a:r>
              <a:rPr sz="3100" b="1">
                <a:solidFill>
                  <a:srgbClr val="FF6B8A"/>
                </a:solidFill>
                <a:latin typeface="Malgun Gothic"/>
                <a:ea typeface="Malgun Gothic"/>
                <a:cs typeface="Malgun Gothic"/>
              </a:rPr>
              <a:t>안전하게 연결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9192"/>
            <a:ext cx="2525334" cy="5340096"/>
          </a:xfrm>
          <a:prstGeom prst="roundRect">
            <a:avLst>
              <a:gd name="adj" fmla="val 8500"/>
            </a:avLst>
          </a:prstGeom>
          <a:solidFill>
            <a:srgbClr val="05070F"/>
          </a:solidFill>
          <a:ln w="15875">
            <a:solidFill>
              <a:srgbClr val="26304C"/>
            </a:solidFill>
          </a:ln>
          <a:effectLst>
            <a:outerShdw blurRad="164592" dist="9144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743200"/>
            <a:ext cx="2397318" cy="5212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13048" y="2697480"/>
            <a:ext cx="2478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B8A"/>
                </a:solidFill>
                <a:latin typeface="Malgun Gothic"/>
                <a:ea typeface="Malgun Gothic"/>
                <a:cs typeface="Malgun Gothic"/>
              </a:rPr>
              <a:t>왜 강력한가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3048" y="3200400"/>
            <a:ext cx="2478024" cy="1207008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14216" y="3364992"/>
            <a:ext cx="2112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opt-in 양방향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4216" y="3785616"/>
            <a:ext cx="21122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서로 동의한 경우에만 연결. 원치 않으면 연결되지 않는다.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13048" y="4572000"/>
            <a:ext cx="2478024" cy="1207008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4216" y="4736592"/>
            <a:ext cx="2112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안전 장치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4216" y="5157216"/>
            <a:ext cx="21122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신고·차단 지원. 관심사 기반이라 부담이 적다.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3048" y="5943600"/>
            <a:ext cx="2478024" cy="1207008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14216" y="6108192"/>
            <a:ext cx="2112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네트워크 효과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4216" y="6528816"/>
            <a:ext cx="21122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사용자가 늘수록 매칭 가치가 커지는 구조.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3048" y="7315200"/>
            <a:ext cx="2478024" cy="1207008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14216" y="7479792"/>
            <a:ext cx="2112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알림 +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4216" y="7900416"/>
            <a:ext cx="21122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'정보'와 '사람'을 한 앱에서 모두 제공.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KeyP</a:t>
            </a: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  ·  KAIST OverEdge 창업 아이디어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Matching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14500" y="8229325"/>
            <a:ext cx="5486400" cy="5486400"/>
          </a:xfrm>
          <a:prstGeom prst="ellipse">
            <a:avLst/>
          </a:prstGeom>
          <a:solidFill>
            <a:srgbClr val="4F46E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274320" cy="64008"/>
          </a:xfrm>
          <a:prstGeom prst="rect">
            <a:avLst/>
          </a:prstGeom>
          <a:solidFill>
            <a:srgbClr val="5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594360"/>
            <a:ext cx="5724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EDGE · 제품 차별성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57241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4가지 </a:t>
            </a:r>
            <a:r>
              <a:rPr sz="33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'Edge'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86000"/>
            <a:ext cx="2724912" cy="1965960"/>
          </a:xfrm>
          <a:prstGeom prst="roundRect">
            <a:avLst>
              <a:gd name="adj" fmla="val 10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25146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5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5146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218688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멀티 에이전트 정밀도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611880"/>
            <a:ext cx="226771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수집·검증·전달을 분업해 노이즈를 걸러낸다. 단순 키워드가 아닌 맥락·의도 기반.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286000"/>
            <a:ext cx="2724912" cy="1965960"/>
          </a:xfrm>
          <a:prstGeom prst="roundRect">
            <a:avLst>
              <a:gd name="adj" fmla="val 10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94760" y="25146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7C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5146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218688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검증된 신뢰도 + 출처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611880"/>
            <a:ext cx="226771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모든 알림에 신뢰도 점수·근거·원문 링크. '믿고 누르는' 경험.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26280"/>
            <a:ext cx="2724912" cy="1965960"/>
          </a:xfrm>
          <a:prstGeom prst="roundRect">
            <a:avLst>
              <a:gd name="adj" fmla="val 10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8" y="475488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754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458968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한국어 우선 · 글로벌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52160"/>
            <a:ext cx="226771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한국어 UI로 쓰면서 전 세계 출처를 검색·자동 번역한다.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526280"/>
            <a:ext cx="2724912" cy="1965960"/>
          </a:xfrm>
          <a:prstGeom prst="roundRect">
            <a:avLst>
              <a:gd name="adj" fmla="val 10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94760" y="475488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4754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458968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opt-in 상호매칭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852160"/>
            <a:ext cx="226771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같은 관심사를 양방향 동의 시에만 연결. 네트워크 효과.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6812280"/>
            <a:ext cx="5724144" cy="1280160"/>
          </a:xfrm>
          <a:prstGeom prst="roundRect">
            <a:avLst>
              <a:gd name="adj" fmla="val 10000"/>
            </a:avLst>
          </a:prstGeom>
          <a:solidFill>
            <a:srgbClr val="0E1530"/>
          </a:solidFill>
          <a:ln w="12700">
            <a:solidFill>
              <a:srgbClr val="5B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7031736"/>
            <a:ext cx="5084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경쟁력 요약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KeyP는 </a:t>
            </a: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'아이디어'가 아니라 이미 구현되어 작동하는 제품</a:t>
            </a: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이다. 이것이 핵심 경쟁력이다.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KeyP</a:t>
            </a: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  ·  KAIST OverEdge 창업 아이디어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Edge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-1295430"/>
            <a:ext cx="5029200" cy="5029200"/>
          </a:xfrm>
          <a:prstGeom prst="ellipse">
            <a:avLst/>
          </a:prstGeom>
          <a:solidFill>
            <a:srgbClr val="5B7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274320" cy="64008"/>
          </a:xfrm>
          <a:prstGeom prst="rect">
            <a:avLst/>
          </a:prstGeom>
          <a:solidFill>
            <a:srgbClr val="5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594360"/>
            <a:ext cx="5724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BUSINESS · 수익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57241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구독 4단계 — </a:t>
            </a:r>
            <a:r>
              <a:rPr sz="31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Free → Power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33472"/>
            <a:ext cx="2525334" cy="5340096"/>
          </a:xfrm>
          <a:prstGeom prst="roundRect">
            <a:avLst>
              <a:gd name="adj" fmla="val 8500"/>
            </a:avLst>
          </a:prstGeom>
          <a:solidFill>
            <a:srgbClr val="05070F"/>
          </a:solidFill>
          <a:ln w="15875">
            <a:solidFill>
              <a:srgbClr val="26304C"/>
            </a:solidFill>
          </a:ln>
          <a:effectLst>
            <a:outerShdw blurRad="164592" dist="9144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697480"/>
            <a:ext cx="2397318" cy="5212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13048" y="2670048"/>
            <a:ext cx="2478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관심사 수·알림 빈도로 차등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3048" y="3200400"/>
            <a:ext cx="2478024" cy="1207008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3970">
            <a:solidFill>
              <a:srgbClr val="9AA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14216" y="3383280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4216" y="3840480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관심사 1 · 1시간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13048" y="4572000"/>
            <a:ext cx="2478024" cy="1207008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3970">
            <a:solidFill>
              <a:srgbClr val="5B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4216" y="4754880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Basic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4216" y="5212080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관심사 5 · 15분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3048" y="5943600"/>
            <a:ext cx="2478024" cy="1207008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3970">
            <a:solidFill>
              <a:srgbClr val="7C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14216" y="6126480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7C6BFF"/>
                </a:solidFill>
                <a:latin typeface="Malgun Gothic"/>
                <a:ea typeface="Malgun Gothic"/>
                <a:cs typeface="Malgun Gothic"/>
              </a:rP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4216" y="6583680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고빈도 · 속보 알림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3048" y="7315200"/>
            <a:ext cx="2478024" cy="1207008"/>
          </a:xfrm>
          <a:prstGeom prst="roundRect">
            <a:avLst>
              <a:gd name="adj" fmla="val 12000"/>
            </a:avLst>
          </a:prstGeom>
          <a:solidFill>
            <a:srgbClr val="161C30"/>
          </a:solidFill>
          <a:ln w="13970">
            <a:solidFill>
              <a:srgbClr val="F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14216" y="7498080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6B8A"/>
                </a:solidFill>
                <a:latin typeface="Malgun Gothic"/>
                <a:ea typeface="Malgun Gothic"/>
                <a:cs typeface="Malgun Gothic"/>
              </a:rPr>
              <a:t>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4216" y="7955280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최대 · 최고빈도+부스트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8778240"/>
            <a:ext cx="5724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업섬널·수상 11M KRW + 시드 투자 최대 100M KRW 연계 가능 (OverEdge 트랙)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KeyP</a:t>
            </a: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  ·  KAIST OverEdge 창업 아이디어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Business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-1508796"/>
            <a:ext cx="5943600" cy="5943600"/>
          </a:xfrm>
          <a:prstGeom prst="ellipse">
            <a:avLst/>
          </a:prstGeom>
          <a:solidFill>
            <a:srgbClr val="4F46E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274320" cy="64008"/>
          </a:xfrm>
          <a:prstGeom prst="rect">
            <a:avLst/>
          </a:prstGeom>
          <a:solidFill>
            <a:srgbClr val="5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594360"/>
            <a:ext cx="5724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WHY KeyP · 1인 창업 ×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572414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KeyP 자체가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'AI를 공동창업팀으로 삼은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1인 창업'</a:t>
            </a: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의 사례다.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57241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창업자는 별도 팀 없이 AI 에이전트를 실질적 동료로 삼아 모바일 앱·백엔드·AI 파이프라인 전체를 혼자 구축했다.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434840"/>
            <a:ext cx="5724144" cy="822960"/>
          </a:xfrm>
          <a:prstGeom prst="roundRect">
            <a:avLst>
              <a:gd name="adj" fmla="val 14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599432"/>
            <a:ext cx="82296" cy="493776"/>
          </a:xfrm>
          <a:prstGeom prst="rect">
            <a:avLst/>
          </a:prstGeom>
          <a:solidFill>
            <a:srgbClr val="5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443484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문제인식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4434840"/>
            <a:ext cx="279806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'정보 과잉 속 발견 부족'을 구조적으로 정의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394960"/>
            <a:ext cx="5724144" cy="822960"/>
          </a:xfrm>
          <a:prstGeom prst="roundRect">
            <a:avLst>
              <a:gd name="adj" fmla="val 14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5559552"/>
            <a:ext cx="82296" cy="493776"/>
          </a:xfrm>
          <a:prstGeom prst="rect">
            <a:avLst/>
          </a:prstGeom>
          <a:solidFill>
            <a:srgbClr val="5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39496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창업의지·실현가능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5394960"/>
            <a:ext cx="279806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기획이 아닌 작동하는 MVP · 구독 BM 완성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6355080"/>
            <a:ext cx="5724144" cy="822960"/>
          </a:xfrm>
          <a:prstGeom prst="roundRect">
            <a:avLst>
              <a:gd name="adj" fmla="val 14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6519672"/>
            <a:ext cx="82296" cy="493776"/>
          </a:xfrm>
          <a:prstGeom prst="rect">
            <a:avLst/>
          </a:prstGeom>
          <a:solidFill>
            <a:srgbClr val="5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635508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활용 역량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6355080"/>
            <a:ext cx="279806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AI를 제품 엔진이자 공동창업팀으로 동시 활용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7315200"/>
            <a:ext cx="5724144" cy="822960"/>
          </a:xfrm>
          <a:prstGeom prst="roundRect">
            <a:avLst>
              <a:gd name="adj" fmla="val 14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7479792"/>
            <a:ext cx="82296" cy="493776"/>
          </a:xfrm>
          <a:prstGeom prst="rect">
            <a:avLst/>
          </a:prstGeom>
          <a:solidFill>
            <a:srgbClr val="5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731520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AX 구현 (2차)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7315200"/>
            <a:ext cx="279806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멀티 에이전트 오케스트레이션을 실제 코드로 구현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8275320"/>
            <a:ext cx="5724144" cy="822960"/>
          </a:xfrm>
          <a:prstGeom prst="roundRect">
            <a:avLst>
              <a:gd name="adj" fmla="val 14000"/>
            </a:avLst>
          </a:prstGeom>
          <a:solidFill>
            <a:srgbClr val="161C30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8439912"/>
            <a:ext cx="82296" cy="493776"/>
          </a:xfrm>
          <a:prstGeom prst="rect">
            <a:avLst/>
          </a:prstGeom>
          <a:solidFill>
            <a:srgbClr val="5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827532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기술·시장 (2차)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4408" y="8275320"/>
            <a:ext cx="279806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비용 최적화 + 네트워크 효과형 확장 경로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KeyP</a:t>
            </a: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  ·  KAIST OverEdge 창업 아이디어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1624767"/>
            <a:ext cx="5724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Why KeyP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" y="1219078"/>
            <a:ext cx="7315200" cy="7315200"/>
          </a:xfrm>
          <a:prstGeom prst="ellipse">
            <a:avLst/>
          </a:prstGeom>
          <a:solidFill>
            <a:srgbClr val="4F46E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7848340"/>
            <a:ext cx="5029200" cy="5029200"/>
          </a:xfrm>
          <a:prstGeom prst="ellipse">
            <a:avLst/>
          </a:prstGeom>
          <a:solidFill>
            <a:srgbClr val="FF6B8A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eyp-icon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194560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3657600"/>
            <a:ext cx="5724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KeyP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389120"/>
            <a:ext cx="572414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 관심사를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5B7FFF"/>
                </a:solidFill>
                <a:latin typeface="Malgun Gothic"/>
                <a:ea typeface="Malgun Gothic"/>
                <a:cs typeface="Malgun Gothic"/>
              </a:rPr>
              <a:t>가장 먼저·정확하게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알려주는 글로벌 서비스로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0"/>
            <a:ext cx="57241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이미 작동하는 AI 에이전트 제품 + 공동창업팀으로서의 AI.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9AA4C0"/>
                </a:solidFill>
                <a:latin typeface="Malgun Gothic"/>
                <a:ea typeface="Malgun Gothic"/>
                <a:cs typeface="Malgun Gothic"/>
              </a:rPr>
              <a:t>OverEdge의 기술·네트워크·투자와 만나면 글로벌로 성장한다.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81328" y="8595360"/>
            <a:ext cx="3895344" cy="868680"/>
          </a:xfrm>
          <a:prstGeom prst="roundRect">
            <a:avLst>
              <a:gd name="adj" fmla="val 30000"/>
            </a:avLst>
          </a:prstGeom>
          <a:solidFill>
            <a:srgbClr val="161C30"/>
          </a:solidFill>
          <a:ln w="12700">
            <a:solidFill>
              <a:srgbClr val="5B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8595360"/>
            <a:ext cx="38953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 KAIST OverEdge · 창업 아이디어 기술서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9784080"/>
            <a:ext cx="5724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B7596"/>
                </a:solidFill>
                <a:latin typeface="Malgun Gothic"/>
                <a:ea typeface="Malgun Gothic"/>
                <a:cs typeface="Malgun Gothic"/>
              </a:rPr>
              <a:t>신청자 성명 / 연락처 : ________________________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